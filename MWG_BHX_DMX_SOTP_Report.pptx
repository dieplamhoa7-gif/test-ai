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>
                <a:solidFill>
                  <a:srgbClr val="1F4E79"/>
                </a:solidFill>
              </a:rPr>
              <a:t>Định giá SOTP MWG / ĐMX / BHX / TGDĐ</a:t>
            </a:r>
          </a:p>
          <a:p>
            <a:pPr>
              <a:defRPr sz="1100">
                <a:solidFill>
                  <a:srgbClr val="646464"/>
                </a:solidFill>
              </a:defRPr>
            </a:pPr>
            <a:r>
              <a:t>Public-input model; giả định được ghi rõ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22222"/>
                </a:solidFill>
              </a:defRPr>
            </a:pPr>
            <a:r>
              <a:t>Mục tiêu: chạy nhanh định giá từng mảng ĐMX, BHX, TGDĐ để nhìn đóng góp vào MWG.</a:t>
            </a:r>
          </a:p>
          <a:p>
            <a:pPr>
              <a:defRPr sz="1800">
                <a:solidFill>
                  <a:srgbClr val="222222"/>
                </a:solidFill>
              </a:defRPr>
            </a:pPr>
            <a:r>
              <a:t>Nguồn public đã dùng: CafeF KQKD MWG 2025; bài công khai về BHX và ĐMX IPO/operating update; dữ liệu công khai trên MWG/CafeF.</a:t>
            </a:r>
          </a:p>
          <a:p>
            <a:pPr>
              <a:defRPr sz="1800">
                <a:solidFill>
                  <a:srgbClr val="222222"/>
                </a:solidFill>
              </a:defRPr>
            </a:pPr>
            <a:r>
              <a:t>Phần nào không có standalone financials sạch sẽ được đánh dấu là assumption.</a:t>
            </a:r>
          </a:p>
          <a:p>
            <a:pPr>
              <a:defRPr sz="1800">
                <a:solidFill>
                  <a:srgbClr val="222222"/>
                </a:solidFill>
              </a:defRPr>
            </a:pPr>
            <a:r>
              <a:t>MWG giả định tại giá 70.000 đ/cp. 1.463 triệu cp. net debt 7.000 tỷ =&gt; EV 109.410 tỷ.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>
                <a:solidFill>
                  <a:srgbClr val="1F4E79"/>
                </a:solidFill>
              </a:rPr>
              <a:t>Dữ liệu public đã xác nhận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11556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2788920"/>
                <a:gridCol w="2788920"/>
                <a:gridCol w="2788920"/>
              </a:tblGrid>
              <a:tr h="4876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4E79"/>
                          </a:solidFill>
                        </a:defRPr>
                      </a:pPr>
                      <a:r>
                        <a:t>Mảng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4E79"/>
                          </a:solidFill>
                        </a:defRPr>
                      </a:pPr>
                      <a:r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4E79"/>
                          </a:solidFill>
                        </a:defRPr>
                      </a:pPr>
                      <a:r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4E79"/>
                          </a:solidFill>
                        </a:defRPr>
                      </a:pPr>
                      <a:r>
                        <a:t>Ghi chú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MWG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Doanh thu thuần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155.928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CafeF KQKD 2025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MWG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LNST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7.073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CafeF KQKD 2025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BHX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Doanh thu Q1/2026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13.100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Bài CafeF public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BHX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LN Q1/2026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~400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Bài CafeF public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BHX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KH doanh thu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55.500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Bài CafeF public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BHX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KH lợi nhuận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1.800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Bài CafeF public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ĐMX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LNST Q1/2026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~2.219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Nguồn MWG/CafeF public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ĐMX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Dịch vụ thợ 2025 DT/LNST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2.576 / 201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Bài CafeF public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>
                <a:solidFill>
                  <a:srgbClr val="1F4E79"/>
                </a:solidFill>
              </a:rPr>
              <a:t>Giả định định giá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07899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391885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4E79"/>
                          </a:solidFill>
                        </a:defRPr>
                      </a:pPr>
                      <a:r>
                        <a:t>Khoản mục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4E79"/>
                          </a:solidFill>
                        </a:defRPr>
                      </a:pPr>
                      <a:r>
                        <a:t>Giả định 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4E79"/>
                          </a:solidFill>
                        </a:defRPr>
                      </a:pPr>
                      <a:r>
                        <a:t>Loại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BHX EV/Sales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0,65x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Assumption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BHX P/E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22x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Assumption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ĐMX valuation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45.000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Base placeholder theo IPO/public narrative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TGDĐ valuation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Implied from remainder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Assumption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TGDĐ / Other 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80% / 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Assumption</a:t>
                      </a:r>
                    </a:p>
                  </a:txBody>
                  <a:tcPr/>
                </a:tc>
              </a:tr>
              <a:tr h="39189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MWG net debt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7.000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Model placeholder - cần update BS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297680"/>
            <a:ext cx="10424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22222"/>
                </a:solidFill>
              </a:defRPr>
            </a:pPr>
            <a:r>
              <a:t>BHX dùng blend EV/Sales và P/E vì đang ở pha scale + profitability transition.</a:t>
            </a:r>
          </a:p>
          <a:p>
            <a:pPr>
              <a:defRPr sz="1400">
                <a:solidFill>
                  <a:srgbClr val="222222"/>
                </a:solidFill>
              </a:defRPr>
            </a:pPr>
            <a:r>
              <a:t>ĐMX chưa có bộ standalone full-year sạch trong phiên nên dùng range IPO/public narrative, lấy base 45.000 tỷ.</a:t>
            </a:r>
          </a:p>
          <a:p>
            <a:pPr>
              <a:defRPr sz="1400">
                <a:solidFill>
                  <a:srgbClr val="222222"/>
                </a:solidFill>
              </a:defRPr>
            </a:pPr>
            <a:r>
              <a:t>TGDĐ chưa được tách riêng hoàn toàn bằng financials public, nên định giá bằng phần giá trị còn lại của MWG sau khi trừ BHX + ĐMX.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>
                <a:solidFill>
                  <a:srgbClr val="1F4E79"/>
                </a:solidFill>
              </a:rPr>
              <a:t>Kết quả định giá base case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749807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59"/>
                <a:gridCol w="2499359"/>
                <a:gridCol w="2499361"/>
              </a:tblGrid>
              <a:tr h="3810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4E79"/>
                          </a:solidFill>
                        </a:defRPr>
                      </a:pPr>
                      <a:r>
                        <a:t>Mảng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4E79"/>
                          </a:solidFill>
                        </a:defRPr>
                      </a:pPr>
                      <a:r>
                        <a:t>Giá trị (tỷ đồng)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4E79"/>
                          </a:solidFill>
                        </a:defRPr>
                      </a:pPr>
                      <a:r>
                        <a:t>% EV MWG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BHX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37.837.5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34.6%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ĐMX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45.000.0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41.1%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TGDĐ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21.258.0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19.4%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Khác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5.314.5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4.9%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MWG 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109.410.0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503920" y="1554480"/>
            <a:ext cx="2926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22222"/>
                </a:solidFill>
              </a:defRPr>
            </a:pPr>
            <a:r>
              <a:t>BHX base: 37.838 tỷ</a:t>
            </a:r>
          </a:p>
          <a:p>
            <a:pPr>
              <a:defRPr sz="1600">
                <a:solidFill>
                  <a:srgbClr val="222222"/>
                </a:solidFill>
              </a:defRPr>
            </a:pPr>
            <a:r>
              <a:t>ĐMX base: 45.000 tỷ</a:t>
            </a:r>
          </a:p>
          <a:p>
            <a:pPr>
              <a:defRPr sz="1600">
                <a:solidFill>
                  <a:srgbClr val="222222"/>
                </a:solidFill>
              </a:defRPr>
            </a:pPr>
            <a:r>
              <a:t>TGDĐ base: 21.258 tỷ</a:t>
            </a:r>
          </a:p>
          <a:p>
            <a:pPr>
              <a:defRPr sz="1600">
                <a:solidFill>
                  <a:srgbClr val="222222"/>
                </a:solidFill>
              </a:defRPr>
            </a:pPr>
            <a:r>
              <a:t>ĐMX vẫn là core value lớn nhất trong base case.</a:t>
            </a:r>
          </a:p>
          <a:p>
            <a:pPr>
              <a:defRPr sz="1600">
                <a:solidFill>
                  <a:srgbClr val="222222"/>
                </a:solidFill>
              </a:defRPr>
            </a:pPr>
            <a:r>
              <a:t>BHX đang đủ lớn để trở thành 1/3 EV của MWG nếu market tin vào profitability path.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>
                <a:solidFill>
                  <a:srgbClr val="1F4E79"/>
                </a:solidFill>
              </a:rPr>
              <a:t>Nhận định từng mảng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22222"/>
                </a:solidFill>
              </a:defRPr>
            </a:pPr>
            <a:r>
              <a:t>ĐMX: profit engine rõ nhất; có catalyst IPO; thêm optionality từ mảng dịch vụ thợ.</a:t>
            </a:r>
          </a:p>
          <a:p>
            <a:pPr>
              <a:defRPr sz="1800">
                <a:solidFill>
                  <a:srgbClr val="222222"/>
                </a:solidFill>
              </a:defRPr>
            </a:pPr>
            <a:r>
              <a:t>BHX: đang chuyển từ story tăng trưởng doanh thu sang story lợi nhuận + leverage; định giá nhạy với biên ròng khoảng 3-5%.</a:t>
            </a:r>
          </a:p>
          <a:p>
            <a:pPr>
              <a:defRPr sz="1800">
                <a:solidFill>
                  <a:srgbClr val="222222"/>
                </a:solidFill>
              </a:defRPr>
            </a:pPr>
            <a:r>
              <a:t>TGDĐ: mảng trưởng thành hơn, ít rerating hơn; vai trò chính là nền doanh thu/dòng tiền và phần giá trị còn lại trong SOTP.</a:t>
            </a:r>
          </a:p>
          <a:p>
            <a:pPr>
              <a:defRPr sz="1800">
                <a:solidFill>
                  <a:srgbClr val="222222"/>
                </a:solidFill>
              </a:defRPr>
            </a:pPr>
            <a:r>
              <a:t>Nếu BHX duy trì biên khoảng 3% và mở rộng bền, upside valuation còn; nếu biên không giữ được thì BHX valuation dễ co lại.</a:t>
            </a:r>
          </a:p>
          <a:p>
            <a:pPr>
              <a:defRPr sz="1800">
                <a:solidFill>
                  <a:srgbClr val="222222"/>
                </a:solidFill>
              </a:defRPr>
            </a:pPr>
            <a:r>
              <a:t>Base case hiện phù hợp hơn bull case vì bull case làm phần TGDĐ + other implied quá thấp nếu giữ nguyên EV MWG.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>
                <a:solidFill>
                  <a:srgbClr val="1F4E79"/>
                </a:solidFill>
              </a:rPr>
              <a:t>Điểm cần cẩn thận / Việc cần làm tiếp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22222"/>
                </a:solidFill>
              </a:defRPr>
            </a:pPr>
            <a:r>
              <a:t>Chưa có standalone financial statements full-year sạch cho ĐMX và BHX trong phiên này.</a:t>
            </a:r>
          </a:p>
          <a:p>
            <a:pPr>
              <a:defRPr sz="1800">
                <a:solidFill>
                  <a:srgbClr val="222222"/>
                </a:solidFill>
              </a:defRPr>
            </a:pPr>
            <a:r>
              <a:t>Net debt MWG và shares cần cập nhật từ BCTC / nguồn mới nhất nếu muốn target price chính xác hơn.</a:t>
            </a:r>
          </a:p>
          <a:p>
            <a:pPr>
              <a:defRPr sz="1800">
                <a:solidFill>
                  <a:srgbClr val="222222"/>
                </a:solidFill>
              </a:defRPr>
            </a:pPr>
            <a:r>
              <a:t>TGDĐ đang là implied valuation, chưa phải tách riêng bằng mô hình độc lập hoàn chỉnh.</a:t>
            </a:r>
          </a:p>
          <a:p>
            <a:pPr>
              <a:defRPr sz="1800">
                <a:solidFill>
                  <a:srgbClr val="222222"/>
                </a:solidFill>
              </a:defRPr>
            </a:pPr>
            <a:r>
              <a:t>Báo cáo này phù hợp để nhìn nhanh SOTP / tỷ trọng giá trị, chưa phải fairness value cuối cùng.</a:t>
            </a:r>
          </a:p>
          <a:p>
            <a:pPr>
              <a:defRPr sz="1800">
                <a:solidFill>
                  <a:srgbClr val="222222"/>
                </a:solidFill>
              </a:defRPr>
            </a:pPr>
            <a:r>
              <a:t>Bước tiếp theo: cập nhật CĐKT/LCTT 2025, kéo thêm số standalone/IPO ĐMX và disclosure BHX để khóa valuation chắc hơn.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