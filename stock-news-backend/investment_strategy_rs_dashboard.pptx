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Trend Pullback: thắng/thua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Trend Pullback: thắng/thua</c:v>
                </c:pt>
              </c:strCache>
            </c:strRef>
          </c:tx>
          <c:spPr>
            <a:solidFill>
              <a:srgbClr val="3AD692"/>
            </a:solidFill>
          </c:spPr>
          <c:cat>
            <c:strRef>
              <c:f>Sheet1!$A$2:$A$3</c:f>
              <c:strCache>
                <c:ptCount val="2"/>
                <c:pt idx="0">
                  <c:v>Wins</c:v>
                </c:pt>
                <c:pt idx="1">
                  <c:v>Losses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</c:v>
                </c:pt>
                <c:pt idx="1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Shakeout OOS win-rate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Shakeout OOS win-rate (%)</c:v>
                </c:pt>
              </c:strCache>
            </c:strRef>
          </c:tx>
          <c:spPr>
            <a:solidFill>
              <a:srgbClr val="FFC457"/>
            </a:solidFill>
          </c:spPr>
          <c:cat>
            <c:strRef>
              <c:f>Sheet1!$A$2:$A$4</c:f>
              <c:strCache>
                <c:ptCount val="3"/>
                <c:pt idx="0">
                  <c:v>standard</c:v>
                </c:pt>
                <c:pt idx="1">
                  <c:v>deep</c:v>
                </c:pt>
                <c:pt idx="2">
                  <c:v>all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50.0</c:v>
                </c:pt>
                <c:pt idx="1">
                  <c:v>41.67</c:v>
                </c:pt>
                <c:pt idx="2">
                  <c:v>45.0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Good-rate theo score bucket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Good-rate theo score bucket (%)</c:v>
                </c:pt>
              </c:strCache>
            </c:strRef>
          </c:tx>
          <c:spPr>
            <a:solidFill>
              <a:srgbClr val="3AD692"/>
            </a:solidFill>
          </c:spPr>
          <c:cat>
            <c:strRef>
              <c:f>Sheet1!$A$2:$A$5</c:f>
              <c:strCache>
                <c:ptCount val="4"/>
                <c:pt idx="0">
                  <c:v>45-60</c:v>
                </c:pt>
                <c:pt idx="1">
                  <c:v>60-75</c:v>
                </c:pt>
                <c:pt idx="2">
                  <c:v>75-90</c:v>
                </c:pt>
                <c:pt idx="3">
                  <c:v>90-+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63.7</c:v>
                </c:pt>
                <c:pt idx="1">
                  <c:v>62.75</c:v>
                </c:pt>
                <c:pt idx="2">
                  <c:v>47.68</c:v>
                </c:pt>
                <c:pt idx="3">
                  <c:v>55.56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Not-broken rate theo grade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Not-broken rate theo grade (%)</c:v>
                </c:pt>
              </c:strCache>
            </c:strRef>
          </c:tx>
          <c:spPr>
            <a:solidFill>
              <a:srgbClr val="27D5FF"/>
            </a:solidFill>
          </c:spPr>
          <c:cat>
            <c:strRef>
              <c:f>Sheet1!$A$2:$A$4</c:f>
              <c:strCache>
                <c:ptCount val="3"/>
                <c:pt idx="0">
                  <c:v>watch</c:v>
                </c:pt>
                <c:pt idx="1">
                  <c:v>valid</c:v>
                </c:pt>
                <c:pt idx="2">
                  <c:v>hard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74.95</c:v>
                </c:pt>
                <c:pt idx="1">
                  <c:v>69.0</c:v>
                </c:pt>
                <c:pt idx="2">
                  <c:v>67.8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12779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25559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438339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51118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063898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876678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689457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02237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15017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127796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940576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753356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566135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378915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191695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85725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71450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257175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342900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428625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14350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00075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65750" y="4800610"/>
            <a:ext cx="1036294" cy="219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402044" y="4800778"/>
            <a:ext cx="1036295" cy="51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438339" y="4800418"/>
            <a:ext cx="1036294" cy="360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474633" y="4800118"/>
            <a:ext cx="1036294" cy="300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510927" y="4800118"/>
            <a:ext cx="1036294" cy="65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47221" y="4800183"/>
            <a:ext cx="1036294" cy="334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583515" y="4800517"/>
            <a:ext cx="1036294" cy="284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619809" y="4800638"/>
            <a:ext cx="1036294" cy="163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656103" y="4800251"/>
            <a:ext cx="1036294" cy="387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9692397" y="4800060"/>
            <a:ext cx="1036294" cy="191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728691" y="4800060"/>
            <a:ext cx="1036294" cy="150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85800" y="960120"/>
            <a:ext cx="10881360" cy="4297680"/>
          </a:xfrm>
          <a:prstGeom prst="roundRect">
            <a:avLst/>
          </a:prstGeom>
          <a:solidFill>
            <a:srgbClr val="071024"/>
          </a:solidFill>
          <a:ln>
            <a:solidFill>
              <a:srgbClr val="27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lh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43000"/>
            <a:ext cx="1005840" cy="76473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011680" y="114300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8FF"/>
                </a:solidFill>
              </a:defRPr>
            </a:pPr>
            <a:r>
              <a:t>LH INVESTMENT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29968" y="1828800"/>
            <a:ext cx="8778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7D5FF"/>
                </a:solidFill>
              </a:defRPr>
            </a:pPr>
            <a:r>
              <a:t>3 CHIẾN LƯỢC ĐẦU TƯ &amp; MÔ HÌNH R/S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2816352"/>
            <a:ext cx="79552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F5F8FF"/>
                </a:solidFill>
              </a:defRPr>
            </a:pPr>
            <a:r>
              <a:t>• Tổng quan logic giao dịch</a:t>
            </a:r>
          </a:p>
          <a:p>
            <a:pPr>
              <a:spcAft>
                <a:spcPts val="500"/>
              </a:spcAft>
              <a:defRPr sz="1400">
                <a:solidFill>
                  <a:srgbClr val="F5F8FF"/>
                </a:solidFill>
              </a:defRPr>
            </a:pPr>
            <a:r>
              <a:t>• Định lượng chỉ báo kỹ thuật</a:t>
            </a:r>
          </a:p>
          <a:p>
            <a:pPr>
              <a:spcAft>
                <a:spcPts val="500"/>
              </a:spcAft>
              <a:defRPr sz="1400">
                <a:solidFill>
                  <a:srgbClr val="F5F8FF"/>
                </a:solidFill>
              </a:defRPr>
            </a:pPr>
            <a:r>
              <a:t>• Kết quả kiểm định / backtest</a:t>
            </a:r>
          </a:p>
          <a:p>
            <a:pPr>
              <a:spcAft>
                <a:spcPts val="500"/>
              </a:spcAft>
              <a:defRPr sz="1400">
                <a:solidFill>
                  <a:srgbClr val="F5F8FF"/>
                </a:solidFill>
              </a:defRPr>
            </a:pPr>
            <a:r>
              <a:t>• Khung xác định Support – Resistance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6510528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A4B2CD"/>
                </a:solidFill>
              </a:defRPr>
            </a:pPr>
            <a:r>
              <a:t>LH INVESTMENT  |  Strategy &amp; R/S Quant Framework  |  Slide 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12779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25559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438339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51118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063898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876678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689457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02237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15017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127796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940576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753356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566135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378915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191695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85725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71450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257175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342900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428625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14350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00075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65750" y="4800630"/>
            <a:ext cx="1036294" cy="289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402044" y="4800848"/>
            <a:ext cx="1036295" cy="71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438339" y="4800488"/>
            <a:ext cx="1036294" cy="360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474633" y="4800118"/>
            <a:ext cx="1036294" cy="370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510927" y="4800118"/>
            <a:ext cx="1036294" cy="135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47221" y="4800253"/>
            <a:ext cx="1036294" cy="334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583515" y="4800587"/>
            <a:ext cx="1036294" cy="214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619809" y="4800658"/>
            <a:ext cx="1036294" cy="143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656103" y="4800181"/>
            <a:ext cx="1036294" cy="477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9692397" y="4799970"/>
            <a:ext cx="1036294" cy="211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728691" y="4799970"/>
            <a:ext cx="1036294" cy="170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1148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5F8FF"/>
                </a:solidFill>
              </a:defRPr>
            </a:pPr>
            <a:r>
              <a:t>Tổng quan 3 chiến lược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4B2CD"/>
                </a:solidFill>
              </a:defRPr>
            </a:pPr>
            <a:r>
              <a:t>Bộ lọc định lượng: R/S xác định vùng giá, chỉ báo xác nhận hành động giá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1234440"/>
            <a:ext cx="3566160" cy="4480560"/>
          </a:xfrm>
          <a:prstGeom prst="roundRect">
            <a:avLst/>
          </a:prstGeom>
          <a:solidFill>
            <a:srgbClr val="0D2044"/>
          </a:solidFill>
          <a:ln w="15240">
            <a:solidFill>
              <a:srgbClr val="27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tIns="73152"/>
          <a:lstStyle/>
          <a:p>
            <a:pPr algn="ctr">
              <a:defRPr b="1" sz="1500">
                <a:solidFill>
                  <a:srgbClr val="27D5FF"/>
                </a:solidFill>
              </a:defRPr>
            </a:pPr>
            <a:r>
              <a:t>1. Trend Pullback Pro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Mục tiêu: mua cổ phiếu đang có xu hướng tăng, hồi về hỗ trợ.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Bối cảnh: giá trên mây Ichimoku, RSI trung tính, MACD hồi.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Phù hợp: trend còn khỏe, không mua đuổi.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15968" y="1234440"/>
            <a:ext cx="3566160" cy="4480560"/>
          </a:xfrm>
          <a:prstGeom prst="roundRect">
            <a:avLst/>
          </a:prstGeom>
          <a:solidFill>
            <a:srgbClr val="0D2044"/>
          </a:solidFill>
          <a:ln w="15240">
            <a:solidFill>
              <a:srgbClr val="3AD6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tIns="73152"/>
          <a:lstStyle/>
          <a:p>
            <a:pPr algn="ctr">
              <a:defRPr b="1" sz="1500">
                <a:solidFill>
                  <a:srgbClr val="3AD692"/>
                </a:solidFill>
              </a:defRPr>
            </a:pPr>
            <a:r>
              <a:t>2. Support Rebound Hunter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Mục tiêu: bắt nhịp hồi tại hỗ trợ sau nhịp giảm/điều chỉnh.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Bối cảnh: gần hỗ trợ, RSI thấp, %BB thấp.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Điều kiện mới: WATCH cũng cần MACD histogram hồi.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19872" y="1234440"/>
            <a:ext cx="3566160" cy="4480560"/>
          </a:xfrm>
          <a:prstGeom prst="roundRect">
            <a:avLst/>
          </a:prstGeom>
          <a:solidFill>
            <a:srgbClr val="0D2044"/>
          </a:solidFill>
          <a:ln w="15240">
            <a:solidFill>
              <a:srgbClr val="FFC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tIns="73152"/>
          <a:lstStyle/>
          <a:p>
            <a:pPr algn="ctr">
              <a:defRPr b="1" sz="1500">
                <a:solidFill>
                  <a:srgbClr val="FFC457"/>
                </a:solidFill>
              </a:defRPr>
            </a:pPr>
            <a:r>
              <a:t>3. Shakeout Rebound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Mục tiêu: bắt cú rũ bỏ thủng hỗ trợ giả rồi reclaim.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Bối cảnh: breakdown 2–4.5%, sau đó hồi lại vùng hỗ trợ.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Phù hợp: cổ phiếu có cú wash-out rõ.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6510528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A4B2CD"/>
                </a:solidFill>
              </a:defRPr>
            </a:pPr>
            <a:r>
              <a:t>LH INVESTMENT  |  Strategy &amp; R/S Quant Framework  |  Slide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12779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25559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438339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51118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063898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876678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689457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02237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15017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127796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940576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753356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566135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378915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191695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85725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71450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257175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342900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428625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14350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00075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65750" y="4800630"/>
            <a:ext cx="1036294" cy="269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402044" y="4800848"/>
            <a:ext cx="1036295" cy="51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438339" y="4800508"/>
            <a:ext cx="1036294" cy="340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474633" y="4800118"/>
            <a:ext cx="1036294" cy="390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510927" y="4800118"/>
            <a:ext cx="1036294" cy="135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47221" y="4800253"/>
            <a:ext cx="1036294" cy="264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583515" y="4800517"/>
            <a:ext cx="1036294" cy="304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619809" y="4800638"/>
            <a:ext cx="1036294" cy="183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656103" y="4800271"/>
            <a:ext cx="1036294" cy="367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9692397" y="4800040"/>
            <a:ext cx="1036294" cy="231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728691" y="4800040"/>
            <a:ext cx="1036294" cy="100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1148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5F8FF"/>
                </a:solidFill>
              </a:defRPr>
            </a:pPr>
            <a:r>
              <a:t>Các nhóm chỉ báo sử dụng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4B2CD"/>
                </a:solidFill>
              </a:defRPr>
            </a:pPr>
            <a:r>
              <a:t>Không dùng một chỉ báo đơn lẻ — chiến lược yêu cầu confluence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1143000"/>
            <a:ext cx="2743200" cy="4480560"/>
          </a:xfrm>
          <a:prstGeom prst="roundRect">
            <a:avLst/>
          </a:prstGeom>
          <a:solidFill>
            <a:srgbClr val="0D2044"/>
          </a:solidFill>
          <a:ln w="15240">
            <a:solidFill>
              <a:srgbClr val="27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tIns="73152"/>
          <a:lstStyle/>
          <a:p>
            <a:pPr algn="ctr">
              <a:defRPr b="1" sz="1500">
                <a:solidFill>
                  <a:srgbClr val="27D5FF"/>
                </a:solidFill>
              </a:defRPr>
            </a:pPr>
            <a:r>
              <a:t>Xu hướng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Ichimoku cloud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MA20 / MA50 / MA200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Market structure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ROC20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74720" y="1143000"/>
            <a:ext cx="2743200" cy="4480560"/>
          </a:xfrm>
          <a:prstGeom prst="roundRect">
            <a:avLst/>
          </a:prstGeom>
          <a:solidFill>
            <a:srgbClr val="0D2044"/>
          </a:solidFill>
          <a:ln w="15240">
            <a:solidFill>
              <a:srgbClr val="3AD6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tIns="73152"/>
          <a:lstStyle/>
          <a:p>
            <a:pPr algn="ctr">
              <a:defRPr b="1" sz="1500">
                <a:solidFill>
                  <a:srgbClr val="3AD692"/>
                </a:solidFill>
              </a:defRPr>
            </a:pPr>
            <a:r>
              <a:t>Động lượng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RSI14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MACD line/signal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MACD histogram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ADX / DI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46520" y="1143000"/>
            <a:ext cx="2743200" cy="4480560"/>
          </a:xfrm>
          <a:prstGeom prst="roundRect">
            <a:avLst/>
          </a:prstGeom>
          <a:solidFill>
            <a:srgbClr val="0D2044"/>
          </a:solidFill>
          <a:ln w="15240">
            <a:solidFill>
              <a:srgbClr val="FFC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tIns="73152"/>
          <a:lstStyle/>
          <a:p>
            <a:pPr algn="ctr">
              <a:defRPr b="1" sz="1500">
                <a:solidFill>
                  <a:srgbClr val="FFC457"/>
                </a:solidFill>
              </a:defRPr>
            </a:pPr>
            <a:r>
              <a:t>Vị trí giá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R/S zone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Distance to support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Bollinger %BB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Pivot / swing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418320" y="1143000"/>
            <a:ext cx="2331720" cy="4480560"/>
          </a:xfrm>
          <a:prstGeom prst="roundRect">
            <a:avLst/>
          </a:prstGeom>
          <a:solidFill>
            <a:srgbClr val="0D2044"/>
          </a:solidFill>
          <a:ln w="15240">
            <a:solidFill>
              <a:srgbClr val="FF5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tIns="73152"/>
          <a:lstStyle/>
          <a:p>
            <a:pPr algn="ctr">
              <a:defRPr b="1" sz="1500">
                <a:solidFill>
                  <a:srgbClr val="FF5D6E"/>
                </a:solidFill>
              </a:defRPr>
            </a:pPr>
            <a:r>
              <a:t>Rủi ro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Stop theo support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Target theo resistance/RR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Bearish divergence filter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Volume confirmation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6510528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A4B2CD"/>
                </a:solidFill>
              </a:defRPr>
            </a:pPr>
            <a:r>
              <a:t>LH INVESTMENT  |  Strategy &amp; R/S Quant Framework  |  Slide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12779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25559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438339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51118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063898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876678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689457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02237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15017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127796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940576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753356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566135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378915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191695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85725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71450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257175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342900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428625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14350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00075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65750" y="4800610"/>
            <a:ext cx="1036294" cy="309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402044" y="4800848"/>
            <a:ext cx="1036295" cy="71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438339" y="4800488"/>
            <a:ext cx="1036294" cy="360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474633" y="4800188"/>
            <a:ext cx="1036294" cy="300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510927" y="4800183"/>
            <a:ext cx="1036294" cy="5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47221" y="4800183"/>
            <a:ext cx="1036294" cy="424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583515" y="4800607"/>
            <a:ext cx="1036294" cy="214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619809" y="4800638"/>
            <a:ext cx="1036294" cy="183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656103" y="4800181"/>
            <a:ext cx="1036294" cy="457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9692397" y="4799970"/>
            <a:ext cx="1036294" cy="211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728691" y="4799970"/>
            <a:ext cx="1036294" cy="260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1148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5F8FF"/>
                </a:solidFill>
              </a:defRPr>
            </a:pPr>
            <a:r>
              <a:t>Định lượng chỉ báo theo chiến lược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4B2CD"/>
                </a:solidFill>
              </a:defRPr>
            </a:pPr>
            <a:r>
              <a:t>Các ngưỡng chính đang dùng trong pipeline local/output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1097280"/>
            <a:ext cx="3657600" cy="4846320"/>
          </a:xfrm>
          <a:prstGeom prst="roundRect">
            <a:avLst/>
          </a:prstGeom>
          <a:solidFill>
            <a:srgbClr val="0D2044"/>
          </a:solidFill>
          <a:ln w="15240">
            <a:solidFill>
              <a:srgbClr val="27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tIns="73152"/>
          <a:lstStyle/>
          <a:p>
            <a:pPr algn="ctr">
              <a:defRPr b="1" sz="1500">
                <a:solidFill>
                  <a:srgbClr val="27D5FF"/>
                </a:solidFill>
              </a:defRPr>
            </a:pPr>
            <a:r>
              <a:t>Trend Pullback Pro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Điều kiện lõi: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Giá trên Ichimoku cloud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Gần hỗ trợ: distance &lt;= 3%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RSI: 48–62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MACD histogram hồi hoặc phân kỳ dương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Không có bearish divergence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Volume không quá xấu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Quản trị: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Stop khoảng -6%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Chốt một phần tại target +6%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43400" y="1097280"/>
            <a:ext cx="3657600" cy="4846320"/>
          </a:xfrm>
          <a:prstGeom prst="roundRect">
            <a:avLst/>
          </a:prstGeom>
          <a:solidFill>
            <a:srgbClr val="0D2044"/>
          </a:solidFill>
          <a:ln w="15240">
            <a:solidFill>
              <a:srgbClr val="3AD6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tIns="73152"/>
          <a:lstStyle/>
          <a:p>
            <a:pPr algn="ctr">
              <a:defRPr b="1" sz="1500">
                <a:solidFill>
                  <a:srgbClr val="3AD692"/>
                </a:solidFill>
              </a:defRPr>
            </a:pPr>
            <a:r>
              <a:t>Support Rebound Hunter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Hai nhánh A2/B2: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A2: gần hỗ trợ &lt;= 2.5%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RSI &lt;= 45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%BB &lt;= 0.55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B2: above cloud + RSI 48–62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WATCH bắt buộc MACD hist recovering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Loại nếu bearish divergence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83879" y="1097280"/>
            <a:ext cx="3520440" cy="4846320"/>
          </a:xfrm>
          <a:prstGeom prst="roundRect">
            <a:avLst/>
          </a:prstGeom>
          <a:solidFill>
            <a:srgbClr val="0D2044"/>
          </a:solidFill>
          <a:ln w="15240">
            <a:solidFill>
              <a:srgbClr val="FFC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tIns="73152"/>
          <a:lstStyle/>
          <a:p>
            <a:pPr algn="ctr">
              <a:defRPr b="1" sz="1500">
                <a:solidFill>
                  <a:srgbClr val="FFC457"/>
                </a:solidFill>
              </a:defRPr>
            </a:pPr>
            <a:r>
              <a:t>Shakeout Rebound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Điều kiện lõi: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Thủng hỗ trợ cũ 2–4.5%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Chờ 1–3 nến reclaim/rebound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Entry nến sau xác nhận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Không mua nếu gap xấu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Quản trị: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Stop động theo vùng hỗ trợ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Target ngắn 5–6% hoặc theo R/S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6510528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A4B2CD"/>
                </a:solidFill>
              </a:defRPr>
            </a:pPr>
            <a:r>
              <a:t>LH INVESTMENT  |  Strategy &amp; R/S Quant Framework  |  Slide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12779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25559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438339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51118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063898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876678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689457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02237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15017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127796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940576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753356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566135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378915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191695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85725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71450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257175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342900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428625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14350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00075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65750" y="4800540"/>
            <a:ext cx="1036294" cy="379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402044" y="4800848"/>
            <a:ext cx="1036295" cy="71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438339" y="4800508"/>
            <a:ext cx="1036294" cy="340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474633" y="4800118"/>
            <a:ext cx="1036294" cy="390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510927" y="4800118"/>
            <a:ext cx="1036294" cy="155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47221" y="4800273"/>
            <a:ext cx="1036294" cy="244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583515" y="4800517"/>
            <a:ext cx="1036294" cy="284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619809" y="4800638"/>
            <a:ext cx="1036294" cy="163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656103" y="4800251"/>
            <a:ext cx="1036294" cy="387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9692397" y="4799970"/>
            <a:ext cx="1036294" cy="281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728691" y="4799970"/>
            <a:ext cx="1036294" cy="260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1148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5F8FF"/>
                </a:solidFill>
              </a:defRPr>
            </a:pPr>
            <a:r>
              <a:t>Tín hiệu hiện tại sau khi chạy VN100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4B2CD"/>
                </a:solidFill>
              </a:defRPr>
            </a:pPr>
            <a:r>
              <a:t>Ngày chạy: 2026-05-02 — không có mã đạt BUY tuyệt đối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1143000"/>
            <a:ext cx="2011680" cy="1005840"/>
          </a:xfrm>
          <a:prstGeom prst="roundRect">
            <a:avLst/>
          </a:prstGeom>
          <a:solidFill>
            <a:srgbClr val="0F254D"/>
          </a:solidFill>
          <a:ln>
            <a:solidFill>
              <a:srgbClr val="FF5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b="1" sz="2400">
                <a:solidFill>
                  <a:srgbClr val="FF5D6E"/>
                </a:solidFill>
              </a:defRPr>
            </a:pPr>
            <a:r>
              <a:t>0</a:t>
            </a:r>
          </a:p>
          <a:p>
            <a:pPr algn="ctr">
              <a:defRPr sz="950">
                <a:solidFill>
                  <a:srgbClr val="A4B2CD"/>
                </a:solidFill>
              </a:defRPr>
            </a:pPr>
            <a:r>
              <a:t>BUY toàn hệ thống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880360" y="1143000"/>
            <a:ext cx="2011680" cy="1005840"/>
          </a:xfrm>
          <a:prstGeom prst="roundRect">
            <a:avLst/>
          </a:prstGeom>
          <a:solidFill>
            <a:srgbClr val="0F254D"/>
          </a:solidFill>
          <a:ln>
            <a:solidFill>
              <a:srgbClr val="3AD6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b="1" sz="2400">
                <a:solidFill>
                  <a:srgbClr val="3AD692"/>
                </a:solidFill>
              </a:defRPr>
            </a:pPr>
            <a:r>
              <a:t>5</a:t>
            </a:r>
          </a:p>
          <a:p>
            <a:pPr algn="ctr">
              <a:defRPr sz="950">
                <a:solidFill>
                  <a:srgbClr val="A4B2CD"/>
                </a:solidFill>
              </a:defRPr>
            </a:pPr>
            <a:r>
              <a:t>WATCH Trend Pullback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20640" y="1143000"/>
            <a:ext cx="2011680" cy="1005840"/>
          </a:xfrm>
          <a:prstGeom prst="roundRect">
            <a:avLst/>
          </a:prstGeom>
          <a:solidFill>
            <a:srgbClr val="0F254D"/>
          </a:solidFill>
          <a:ln>
            <a:solidFill>
              <a:srgbClr val="FFC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b="1" sz="2400">
                <a:solidFill>
                  <a:srgbClr val="FFC457"/>
                </a:solidFill>
              </a:defRPr>
            </a:pPr>
            <a:r>
              <a:t>0</a:t>
            </a:r>
          </a:p>
          <a:p>
            <a:pPr algn="ctr">
              <a:defRPr sz="950">
                <a:solidFill>
                  <a:srgbClr val="A4B2CD"/>
                </a:solidFill>
              </a:defRPr>
            </a:pPr>
            <a:r>
              <a:t>WATCH Bắt đáy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60920" y="1143000"/>
            <a:ext cx="2011680" cy="1005840"/>
          </a:xfrm>
          <a:prstGeom prst="roundRect">
            <a:avLst/>
          </a:prstGeom>
          <a:solidFill>
            <a:srgbClr val="0F254D"/>
          </a:solidFill>
          <a:ln>
            <a:solidFill>
              <a:srgbClr val="27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b="1" sz="2400">
                <a:solidFill>
                  <a:srgbClr val="27D5FF"/>
                </a:solidFill>
              </a:defRPr>
            </a:pPr>
            <a:r>
              <a:t>0</a:t>
            </a:r>
          </a:p>
          <a:p>
            <a:pPr algn="ctr">
              <a:defRPr sz="950">
                <a:solidFill>
                  <a:srgbClr val="A4B2CD"/>
                </a:solidFill>
              </a:defRPr>
            </a:pPr>
            <a:r>
              <a:t>WATCH Shakeout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01200" y="1143000"/>
            <a:ext cx="2011680" cy="1005840"/>
          </a:xfrm>
          <a:prstGeom prst="roundRect">
            <a:avLst/>
          </a:prstGeom>
          <a:solidFill>
            <a:srgbClr val="0F254D"/>
          </a:solidFill>
          <a:ln>
            <a:solidFill>
              <a:srgbClr val="27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b="1" sz="2400">
                <a:solidFill>
                  <a:srgbClr val="27D5FF"/>
                </a:solidFill>
              </a:defRPr>
            </a:pPr>
            <a:r>
              <a:t>95</a:t>
            </a:r>
          </a:p>
          <a:p>
            <a:pPr algn="ctr">
              <a:defRPr sz="950">
                <a:solidFill>
                  <a:srgbClr val="A4B2CD"/>
                </a:solidFill>
              </a:defRPr>
            </a:pPr>
            <a:r>
              <a:t>VN100 scanner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" y="2560320"/>
            <a:ext cx="10789920" cy="3200400"/>
          </a:xfrm>
          <a:prstGeom prst="roundRect">
            <a:avLst/>
          </a:prstGeom>
          <a:solidFill>
            <a:srgbClr val="0D2044"/>
          </a:solidFill>
          <a:ln w="15240">
            <a:solidFill>
              <a:srgbClr val="3AD6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tIns="73152"/>
          <a:lstStyle/>
          <a:p>
            <a:pPr algn="ctr">
              <a:defRPr b="1" sz="1500">
                <a:solidFill>
                  <a:srgbClr val="3AD692"/>
                </a:solidFill>
              </a:defRPr>
            </a:pPr>
            <a:r>
              <a:t>Danh sách WATCH đáng theo dõi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DXG — Mua 14.8 | Target 15.69 | SL 13.91 | Score 87.5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FPT — Mua 73.4 | Target 77.8 | SL 69.0 | Score 75.0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GEX — Mua 36.8 | Target 39.01 | SL 34.59 | Score 75.0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MSN — Mua 74.3 | Target 78.76 | SL 69.84 | Score 75.0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GAS — Mua 73.0 | Target 77.38 | SL 68.62 | Score 75.0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" y="6510528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A4B2CD"/>
                </a:solidFill>
              </a:defRPr>
            </a:pPr>
            <a:r>
              <a:t>LH INVESTMENT  |  Strategy &amp; R/S Quant Framework  |  Slide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12779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25559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438339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51118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063898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876678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689457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02237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15017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127796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940576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753356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566135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378915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191695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85725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71450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257175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342900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428625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14350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00075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65750" y="4800540"/>
            <a:ext cx="1036294" cy="359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402044" y="4800868"/>
            <a:ext cx="1036295" cy="31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438339" y="4800418"/>
            <a:ext cx="1036294" cy="450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474633" y="4800208"/>
            <a:ext cx="1036294" cy="210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510927" y="4800208"/>
            <a:ext cx="1036294" cy="45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47221" y="4800253"/>
            <a:ext cx="1036294" cy="334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583515" y="4800587"/>
            <a:ext cx="1036294" cy="144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619809" y="4800638"/>
            <a:ext cx="1036294" cy="93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656103" y="4800271"/>
            <a:ext cx="1036294" cy="367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9692397" y="4800040"/>
            <a:ext cx="1036294" cy="231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728691" y="4800040"/>
            <a:ext cx="1036294" cy="170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1148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5F8FF"/>
                </a:solidFill>
              </a:defRPr>
            </a:pPr>
            <a:r>
              <a:t>Kết quả kiểm định 3 chiến lược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4B2CD"/>
                </a:solidFill>
              </a:defRPr>
            </a:pPr>
            <a:r>
              <a:t>Số liệu lấy từ file backtest/output sẵn có trong data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1051560"/>
            <a:ext cx="2011680" cy="960120"/>
          </a:xfrm>
          <a:prstGeom prst="roundRect">
            <a:avLst/>
          </a:prstGeom>
          <a:solidFill>
            <a:srgbClr val="0F254D"/>
          </a:solidFill>
          <a:ln>
            <a:solidFill>
              <a:srgbClr val="27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b="1" sz="2400">
                <a:solidFill>
                  <a:srgbClr val="27D5FF"/>
                </a:solidFill>
              </a:defRPr>
            </a:pPr>
            <a:r>
              <a:t>11</a:t>
            </a:r>
          </a:p>
          <a:p>
            <a:pPr algn="ctr">
              <a:defRPr sz="950">
                <a:solidFill>
                  <a:srgbClr val="A4B2CD"/>
                </a:solidFill>
              </a:defRPr>
            </a:pPr>
            <a:r>
              <a:t>Trend Pullback trades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697480" y="1051560"/>
            <a:ext cx="2011680" cy="960120"/>
          </a:xfrm>
          <a:prstGeom prst="roundRect">
            <a:avLst/>
          </a:prstGeom>
          <a:solidFill>
            <a:srgbClr val="0F254D"/>
          </a:solidFill>
          <a:ln>
            <a:solidFill>
              <a:srgbClr val="3AD6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b="1" sz="2400">
                <a:solidFill>
                  <a:srgbClr val="3AD692"/>
                </a:solidFill>
              </a:defRPr>
            </a:pPr>
            <a:r>
              <a:t>63.64%</a:t>
            </a:r>
          </a:p>
          <a:p>
            <a:pPr algn="ctr">
              <a:defRPr sz="950">
                <a:solidFill>
                  <a:srgbClr val="A4B2CD"/>
                </a:solidFill>
              </a:defRPr>
            </a:pPr>
            <a:r>
              <a:t>Win rate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92040" y="1051560"/>
            <a:ext cx="2011680" cy="960120"/>
          </a:xfrm>
          <a:prstGeom prst="roundRect">
            <a:avLst/>
          </a:prstGeom>
          <a:solidFill>
            <a:srgbClr val="0F254D"/>
          </a:solidFill>
          <a:ln>
            <a:solidFill>
              <a:srgbClr val="FFC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b="1" sz="2400">
                <a:solidFill>
                  <a:srgbClr val="FFC457"/>
                </a:solidFill>
              </a:defRPr>
            </a:pPr>
            <a:r>
              <a:t>1.59%</a:t>
            </a:r>
          </a:p>
          <a:p>
            <a:pPr algn="ctr">
              <a:defRPr sz="950">
                <a:solidFill>
                  <a:srgbClr val="A4B2CD"/>
                </a:solidFill>
              </a:defRPr>
            </a:pPr>
            <a:r>
              <a:t>Avg PnL/trade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086600" y="1051560"/>
            <a:ext cx="2011680" cy="960120"/>
          </a:xfrm>
          <a:prstGeom prst="roundRect">
            <a:avLst/>
          </a:prstGeom>
          <a:solidFill>
            <a:srgbClr val="0F254D"/>
          </a:solidFill>
          <a:ln>
            <a:solidFill>
              <a:srgbClr val="3AD6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b="1" sz="2400">
                <a:solidFill>
                  <a:srgbClr val="3AD692"/>
                </a:solidFill>
              </a:defRPr>
            </a:pPr>
            <a:r>
              <a:t>17.51%</a:t>
            </a:r>
          </a:p>
          <a:p>
            <a:pPr algn="ctr">
              <a:defRPr sz="950">
                <a:solidFill>
                  <a:srgbClr val="A4B2CD"/>
                </a:solidFill>
              </a:defRPr>
            </a:pPr>
            <a:r>
              <a:t>Sum PnL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281160" y="1051560"/>
            <a:ext cx="2011680" cy="960120"/>
          </a:xfrm>
          <a:prstGeom prst="roundRect">
            <a:avLst/>
          </a:prstGeom>
          <a:solidFill>
            <a:srgbClr val="0F254D"/>
          </a:solidFill>
          <a:ln>
            <a:solidFill>
              <a:srgbClr val="27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b="1" sz="2400">
                <a:solidFill>
                  <a:srgbClr val="27D5FF"/>
                </a:solidFill>
              </a:defRPr>
            </a:pPr>
            <a:r>
              <a:t>8.45 phiên</a:t>
            </a:r>
          </a:p>
          <a:p>
            <a:pPr algn="ctr">
              <a:defRPr sz="950">
                <a:solidFill>
                  <a:srgbClr val="A4B2CD"/>
                </a:solidFill>
              </a:defRPr>
            </a:pPr>
            <a:r>
              <a:t>Avg hold</a:t>
            </a:r>
          </a:p>
        </p:txBody>
      </p:sp>
      <p:graphicFrame>
        <p:nvGraphicFramePr>
          <p:cNvPr id="45" name="Chart 44"/>
          <p:cNvGraphicFramePr>
            <a:graphicFrameLocks noGrp="1"/>
          </p:cNvGraphicFramePr>
          <p:nvPr/>
        </p:nvGraphicFramePr>
        <p:xfrm>
          <a:off x="594360" y="2423160"/>
          <a:ext cx="36576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6" name="Chart 45"/>
          <p:cNvGraphicFramePr>
            <a:graphicFrameLocks noGrp="1"/>
          </p:cNvGraphicFramePr>
          <p:nvPr/>
        </p:nvGraphicFramePr>
        <p:xfrm>
          <a:off x="4526280" y="2423160"/>
          <a:ext cx="3337560" cy="3383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7" name="Rounded Rectangle 46"/>
          <p:cNvSpPr/>
          <p:nvPr/>
        </p:nvSpPr>
        <p:spPr>
          <a:xfrm>
            <a:off x="8138160" y="2331720"/>
            <a:ext cx="3383280" cy="3520440"/>
          </a:xfrm>
          <a:prstGeom prst="roundRect">
            <a:avLst/>
          </a:prstGeom>
          <a:solidFill>
            <a:srgbClr val="0D2044"/>
          </a:solidFill>
          <a:ln w="15240">
            <a:solidFill>
              <a:srgbClr val="FF5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tIns="73152"/>
          <a:lstStyle/>
          <a:p>
            <a:pPr algn="ctr">
              <a:defRPr b="1" sz="1500">
                <a:solidFill>
                  <a:srgbClr val="FF5D6E"/>
                </a:solidFill>
              </a:defRPr>
            </a:pPr>
            <a:r>
              <a:t>Bắt đáy / Rebound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Backtest A2/B2 tách rõ: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R/S chỉ tạo vùng hỗ trợ/kháng cự, entry/stop/target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Action model dùng RSI, MACD, BB, volume, ROC, Ichimoku, divergence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Rule mới: loại WATCH nếu MACD histogram không hồi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Mục tiêu: giảm tín hiệu bắt dao rơi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" y="6510528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A4B2CD"/>
                </a:solidFill>
              </a:defRPr>
            </a:pPr>
            <a:r>
              <a:t>LH INVESTMENT  |  Strategy &amp; R/S Quant Framework  |  Slide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12779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25559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438339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51118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063898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876678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689457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02237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15017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127796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940576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753356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566135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378915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191695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85725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71450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257175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342900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428625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14350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00075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65750" y="4800610"/>
            <a:ext cx="1036294" cy="219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402044" y="4800829"/>
            <a:ext cx="1036295" cy="19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438339" y="4800508"/>
            <a:ext cx="1036294" cy="340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474633" y="4800188"/>
            <a:ext cx="1036294" cy="320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510927" y="4800188"/>
            <a:ext cx="1036294" cy="85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47221" y="4800273"/>
            <a:ext cx="1036294" cy="334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583515" y="4800607"/>
            <a:ext cx="1036294" cy="194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619809" y="4800658"/>
            <a:ext cx="1036294" cy="143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656103" y="4800251"/>
            <a:ext cx="1036294" cy="407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9692397" y="4799970"/>
            <a:ext cx="1036294" cy="281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728691" y="4799970"/>
            <a:ext cx="1036294" cy="170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1148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5F8FF"/>
                </a:solidFill>
              </a:defRPr>
            </a:pPr>
            <a:r>
              <a:t>Xác định Support / Resistance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4B2CD"/>
                </a:solidFill>
              </a:defRPr>
            </a:pPr>
            <a:r>
              <a:t>R/S là mô hình confluence đa tín hiệu, không phải một pivot đơn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1097280"/>
            <a:ext cx="2743200" cy="4480560"/>
          </a:xfrm>
          <a:prstGeom prst="roundRect">
            <a:avLst/>
          </a:prstGeom>
          <a:solidFill>
            <a:srgbClr val="0D2044"/>
          </a:solidFill>
          <a:ln w="15240">
            <a:solidFill>
              <a:srgbClr val="27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tIns="73152"/>
          <a:lstStyle/>
          <a:p>
            <a:pPr algn="ctr">
              <a:defRPr b="1" sz="1500">
                <a:solidFill>
                  <a:srgbClr val="27D5FF"/>
                </a:solidFill>
              </a:defRPr>
            </a:pPr>
            <a:r>
              <a:t>Nguồn mức giá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Swing high / swing low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Pivot high/low/close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MA20 / MA50 / MA200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VWAP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Donchian H/L/M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Fibonacci retracement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520440" y="1097280"/>
            <a:ext cx="2743200" cy="4480560"/>
          </a:xfrm>
          <a:prstGeom prst="roundRect">
            <a:avLst/>
          </a:prstGeom>
          <a:solidFill>
            <a:srgbClr val="0D2044"/>
          </a:solidFill>
          <a:ln w="15240">
            <a:solidFill>
              <a:srgbClr val="3AD6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tIns="73152"/>
          <a:lstStyle/>
          <a:p>
            <a:pPr algn="ctr">
              <a:defRPr b="1" sz="1500">
                <a:solidFill>
                  <a:srgbClr val="3AD692"/>
                </a:solidFill>
              </a:defRPr>
            </a:pPr>
            <a:r>
              <a:t>Volume &amp; vùng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Volume-by-price clusters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Cụm thanh khoản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ATR để co giãn zone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Gộp các mức gần nhau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Chấm điểm strength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37960" y="1097280"/>
            <a:ext cx="2514600" cy="4480560"/>
          </a:xfrm>
          <a:prstGeom prst="roundRect">
            <a:avLst/>
          </a:prstGeom>
          <a:solidFill>
            <a:srgbClr val="0D2044"/>
          </a:solidFill>
          <a:ln w="15240">
            <a:solidFill>
              <a:srgbClr val="FFC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tIns="73152"/>
          <a:lstStyle/>
          <a:p>
            <a:pPr algn="ctr">
              <a:defRPr b="1" sz="1500">
                <a:solidFill>
                  <a:srgbClr val="FFC457"/>
                </a:solidFill>
              </a:defRPr>
            </a:pPr>
            <a:r>
              <a:t>Chọn active R/S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Support dưới giá hiện tại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Resistance trên giá hiện tại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Ưu tiên gần + mạnh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Nếu thủng vùng thì chuyển support kế tiếp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81160" y="1097280"/>
            <a:ext cx="2423160" cy="4480560"/>
          </a:xfrm>
          <a:prstGeom prst="roundRect">
            <a:avLst/>
          </a:prstGeom>
          <a:solidFill>
            <a:srgbClr val="0D2044"/>
          </a:solidFill>
          <a:ln w="15240">
            <a:solidFill>
              <a:srgbClr val="FF5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tIns="73152"/>
          <a:lstStyle/>
          <a:p>
            <a:pPr algn="ctr">
              <a:defRPr b="1" sz="1500">
                <a:solidFill>
                  <a:srgbClr val="FF5D6E"/>
                </a:solidFill>
              </a:defRPr>
            </a:pPr>
            <a:r>
              <a:t>Ứng dụng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Điểm mua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Vùng mua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Target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Stop-loss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RR filter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• Không thay thế action signal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6510528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A4B2CD"/>
                </a:solidFill>
              </a:defRPr>
            </a:pPr>
            <a:r>
              <a:t>LH INVESTMENT  |  Strategy &amp; R/S Quant Framework  |  Slide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12779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25559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438339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51118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063898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876678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689457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02237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15017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127796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940576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753356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566135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378915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191695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85725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71450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257175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342900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428625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14350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00075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65750" y="4800630"/>
            <a:ext cx="1036294" cy="269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402044" y="4800848"/>
            <a:ext cx="1036295" cy="51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438339" y="4800418"/>
            <a:ext cx="1036294" cy="430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474633" y="4800208"/>
            <a:ext cx="1036294" cy="210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510927" y="4800208"/>
            <a:ext cx="1036294" cy="65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47221" y="4800273"/>
            <a:ext cx="1036294" cy="314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583515" y="4800587"/>
            <a:ext cx="1036294" cy="234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619809" y="4800638"/>
            <a:ext cx="1036294" cy="183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656103" y="4800181"/>
            <a:ext cx="1036294" cy="457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9692397" y="4800040"/>
            <a:ext cx="1036294" cy="141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728691" y="4800040"/>
            <a:ext cx="1036294" cy="190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1148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5F8FF"/>
                </a:solidFill>
              </a:defRPr>
            </a:pPr>
            <a:r>
              <a:t>Định lượng &amp; kiểm định R/S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4B2CD"/>
                </a:solidFill>
              </a:defRPr>
            </a:pPr>
            <a:r>
              <a:t>Kiểm tra chất lượng vùng hỗ trợ/kháng cự trên 100 mã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1051560"/>
            <a:ext cx="2011680" cy="1005840"/>
          </a:xfrm>
          <a:prstGeom prst="roundRect">
            <a:avLst/>
          </a:prstGeom>
          <a:solidFill>
            <a:srgbClr val="0F254D"/>
          </a:solidFill>
          <a:ln>
            <a:solidFill>
              <a:srgbClr val="27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b="1" sz="2400">
                <a:solidFill>
                  <a:srgbClr val="27D5FF"/>
                </a:solidFill>
              </a:defRPr>
            </a:pPr>
            <a:r>
              <a:t>825</a:t>
            </a:r>
          </a:p>
          <a:p>
            <a:pPr algn="ctr">
              <a:defRPr sz="950">
                <a:solidFill>
                  <a:srgbClr val="A4B2CD"/>
                </a:solidFill>
              </a:defRPr>
            </a:pPr>
            <a:r>
              <a:t>Tổng event R/S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88920" y="1051560"/>
            <a:ext cx="2011680" cy="1005840"/>
          </a:xfrm>
          <a:prstGeom prst="roundRect">
            <a:avLst/>
          </a:prstGeom>
          <a:solidFill>
            <a:srgbClr val="0F254D"/>
          </a:solidFill>
          <a:ln>
            <a:solidFill>
              <a:srgbClr val="3AD6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b="1" sz="2400">
                <a:solidFill>
                  <a:srgbClr val="3AD692"/>
                </a:solidFill>
              </a:defRPr>
            </a:pPr>
            <a:r>
              <a:t>53.15%</a:t>
            </a:r>
          </a:p>
          <a:p>
            <a:pPr algn="ctr">
              <a:defRPr sz="950">
                <a:solidFill>
                  <a:srgbClr val="A4B2CD"/>
                </a:solidFill>
              </a:defRPr>
            </a:pPr>
            <a:r>
              <a:t>Support good-rate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83480" y="1051560"/>
            <a:ext cx="2011680" cy="1005840"/>
          </a:xfrm>
          <a:prstGeom prst="roundRect">
            <a:avLst/>
          </a:prstGeom>
          <a:solidFill>
            <a:srgbClr val="0F254D"/>
          </a:solidFill>
          <a:ln>
            <a:solidFill>
              <a:srgbClr val="FFC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b="1" sz="2400">
                <a:solidFill>
                  <a:srgbClr val="FFC457"/>
                </a:solidFill>
              </a:defRPr>
            </a:pPr>
            <a:r>
              <a:t>73.33%</a:t>
            </a:r>
          </a:p>
          <a:p>
            <a:pPr algn="ctr">
              <a:defRPr sz="950">
                <a:solidFill>
                  <a:srgbClr val="A4B2CD"/>
                </a:solidFill>
              </a:defRPr>
            </a:pPr>
            <a:r>
              <a:t>Support not-broken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78040" y="1051560"/>
            <a:ext cx="2011680" cy="1005840"/>
          </a:xfrm>
          <a:prstGeom prst="roundRect">
            <a:avLst/>
          </a:prstGeom>
          <a:solidFill>
            <a:srgbClr val="0F254D"/>
          </a:solidFill>
          <a:ln>
            <a:solidFill>
              <a:srgbClr val="FF5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b="1" sz="2400">
                <a:solidFill>
                  <a:srgbClr val="FF5D6E"/>
                </a:solidFill>
              </a:defRPr>
            </a:pPr>
            <a:r>
              <a:t>63.7%</a:t>
            </a:r>
          </a:p>
          <a:p>
            <a:pPr algn="ctr">
              <a:defRPr sz="950">
                <a:solidFill>
                  <a:srgbClr val="A4B2CD"/>
                </a:solidFill>
              </a:defRPr>
            </a:pPr>
            <a:r>
              <a:t>Resistance good-rate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372600" y="1051560"/>
            <a:ext cx="2011680" cy="1005840"/>
          </a:xfrm>
          <a:prstGeom prst="roundRect">
            <a:avLst/>
          </a:prstGeom>
          <a:solidFill>
            <a:srgbClr val="0F254D"/>
          </a:solidFill>
          <a:ln>
            <a:solidFill>
              <a:srgbClr val="27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b="1" sz="2400">
                <a:solidFill>
                  <a:srgbClr val="27D5FF"/>
                </a:solidFill>
              </a:defRPr>
            </a:pPr>
            <a:r>
              <a:t>100</a:t>
            </a:r>
          </a:p>
          <a:p>
            <a:pPr algn="ctr">
              <a:defRPr sz="950">
                <a:solidFill>
                  <a:srgbClr val="A4B2CD"/>
                </a:solidFill>
              </a:defRPr>
            </a:pPr>
            <a:r>
              <a:t>Universe</a:t>
            </a:r>
          </a:p>
        </p:txBody>
      </p:sp>
      <p:graphicFrame>
        <p:nvGraphicFramePr>
          <p:cNvPr id="45" name="Chart 44"/>
          <p:cNvGraphicFramePr>
            <a:graphicFrameLocks noGrp="1"/>
          </p:cNvGraphicFramePr>
          <p:nvPr/>
        </p:nvGraphicFramePr>
        <p:xfrm>
          <a:off x="685800" y="2514600"/>
          <a:ext cx="484632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6" name="Chart 45"/>
          <p:cNvGraphicFramePr>
            <a:graphicFrameLocks noGrp="1"/>
          </p:cNvGraphicFramePr>
          <p:nvPr/>
        </p:nvGraphicFramePr>
        <p:xfrm>
          <a:off x="6080760" y="2514600"/>
          <a:ext cx="48463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7" name="TextBox 46"/>
          <p:cNvSpPr txBox="1"/>
          <p:nvPr/>
        </p:nvSpPr>
        <p:spPr>
          <a:xfrm>
            <a:off x="411480" y="6510528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A4B2CD"/>
                </a:solidFill>
              </a:defRPr>
            </a:pPr>
            <a:r>
              <a:t>LH INVESTMENT  |  Strategy &amp; R/S Quant Framework  |  Slide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12779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25559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438339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51118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063898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876678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689457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02237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15017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127796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940576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753356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566135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378915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191695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85725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71450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257175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342900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428625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14350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00075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65750" y="4800630"/>
            <a:ext cx="1036294" cy="289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402044" y="4800848"/>
            <a:ext cx="1036295" cy="71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438339" y="4800488"/>
            <a:ext cx="1036294" cy="360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474633" y="4800188"/>
            <a:ext cx="1036294" cy="300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510927" y="4800188"/>
            <a:ext cx="1036294" cy="85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47221" y="4800273"/>
            <a:ext cx="1036294" cy="244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583515" y="4800517"/>
            <a:ext cx="1036294" cy="214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619809" y="4800658"/>
            <a:ext cx="1036294" cy="73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656103" y="4800251"/>
            <a:ext cx="1036294" cy="407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9692397" y="4800040"/>
            <a:ext cx="1036294" cy="211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728691" y="4800040"/>
            <a:ext cx="1036294" cy="100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1148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5F8FF"/>
                </a:solidFill>
              </a:defRPr>
            </a:pPr>
            <a:r>
              <a:t>Luồng ra quyết định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4B2CD"/>
                </a:solidFill>
              </a:defRPr>
            </a:pPr>
            <a:r>
              <a:t>Từ dữ liệu giá → R/S → chỉ báo → quyết định BUY/WATCH/REJECT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1920240"/>
            <a:ext cx="1600200" cy="2057400"/>
          </a:xfrm>
          <a:prstGeom prst="roundRect">
            <a:avLst/>
          </a:prstGeom>
          <a:solidFill>
            <a:srgbClr val="0D2044"/>
          </a:solidFill>
          <a:ln w="15240">
            <a:solidFill>
              <a:srgbClr val="27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tIns="73152"/>
          <a:lstStyle/>
          <a:p>
            <a:pPr algn="ctr">
              <a:defRPr b="1" sz="1500">
                <a:solidFill>
                  <a:srgbClr val="27D5FF"/>
                </a:solidFill>
              </a:defRPr>
            </a:pPr>
            <a:r>
              <a:t>OHLCV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Giá, volume, lịch sử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2075688" y="2606040"/>
            <a:ext cx="411480" cy="502920"/>
          </a:xfrm>
          <a:prstGeom prst="rightArrow">
            <a:avLst/>
          </a:prstGeom>
          <a:solidFill>
            <a:srgbClr val="A4B2CD"/>
          </a:solidFill>
          <a:ln>
            <a:solidFill>
              <a:srgbClr val="A4B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423160" y="1920240"/>
            <a:ext cx="1600200" cy="2057400"/>
          </a:xfrm>
          <a:prstGeom prst="roundRect">
            <a:avLst/>
          </a:prstGeom>
          <a:solidFill>
            <a:srgbClr val="0D2044"/>
          </a:solidFill>
          <a:ln w="15240">
            <a:solidFill>
              <a:srgbClr val="3AD6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tIns="73152"/>
          <a:lstStyle/>
          <a:p>
            <a:pPr algn="ctr">
              <a:defRPr b="1" sz="1500">
                <a:solidFill>
                  <a:srgbClr val="3AD692"/>
                </a:solidFill>
              </a:defRPr>
            </a:pPr>
            <a:r>
              <a:t>R/S Engine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Cluster support/resistance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3995928" y="2606040"/>
            <a:ext cx="411480" cy="502920"/>
          </a:xfrm>
          <a:prstGeom prst="rightArrow">
            <a:avLst/>
          </a:prstGeom>
          <a:solidFill>
            <a:srgbClr val="A4B2CD"/>
          </a:solidFill>
          <a:ln>
            <a:solidFill>
              <a:srgbClr val="A4B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343400" y="1920240"/>
            <a:ext cx="1600200" cy="2057400"/>
          </a:xfrm>
          <a:prstGeom prst="roundRect">
            <a:avLst/>
          </a:prstGeom>
          <a:solidFill>
            <a:srgbClr val="0D2044"/>
          </a:solidFill>
          <a:ln w="15240">
            <a:solidFill>
              <a:srgbClr val="FFC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tIns="73152"/>
          <a:lstStyle/>
          <a:p>
            <a:pPr algn="ctr">
              <a:defRPr b="1" sz="1500">
                <a:solidFill>
                  <a:srgbClr val="FFC457"/>
                </a:solidFill>
              </a:defRPr>
            </a:pPr>
            <a:r>
              <a:t>Indicator Layer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RSI, MACD, BB, ADX, MA, Ichimoku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5916168" y="2606040"/>
            <a:ext cx="411480" cy="502920"/>
          </a:xfrm>
          <a:prstGeom prst="rightArrow">
            <a:avLst/>
          </a:prstGeom>
          <a:solidFill>
            <a:srgbClr val="A4B2CD"/>
          </a:solidFill>
          <a:ln>
            <a:solidFill>
              <a:srgbClr val="A4B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263640" y="1920240"/>
            <a:ext cx="1600200" cy="2057400"/>
          </a:xfrm>
          <a:prstGeom prst="roundRect">
            <a:avLst/>
          </a:prstGeom>
          <a:solidFill>
            <a:srgbClr val="0D2044"/>
          </a:solidFill>
          <a:ln w="15240">
            <a:solidFill>
              <a:srgbClr val="FF5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tIns="73152"/>
          <a:lstStyle/>
          <a:p>
            <a:pPr algn="ctr">
              <a:defRPr b="1" sz="1500">
                <a:solidFill>
                  <a:srgbClr val="FF5D6E"/>
                </a:solidFill>
              </a:defRPr>
            </a:pPr>
            <a:r>
              <a:t>Strategy Rules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Định lượng theo 3 chiến lược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7836408" y="2606040"/>
            <a:ext cx="411480" cy="502920"/>
          </a:xfrm>
          <a:prstGeom prst="rightArrow">
            <a:avLst/>
          </a:prstGeom>
          <a:solidFill>
            <a:srgbClr val="A4B2CD"/>
          </a:solidFill>
          <a:ln>
            <a:solidFill>
              <a:srgbClr val="A4B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183880" y="1920240"/>
            <a:ext cx="1600200" cy="2057400"/>
          </a:xfrm>
          <a:prstGeom prst="roundRect">
            <a:avLst/>
          </a:prstGeom>
          <a:solidFill>
            <a:srgbClr val="0D2044"/>
          </a:solidFill>
          <a:ln w="15240">
            <a:solidFill>
              <a:srgbClr val="27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tIns="73152"/>
          <a:lstStyle/>
          <a:p>
            <a:pPr algn="ctr">
              <a:defRPr b="1" sz="1500">
                <a:solidFill>
                  <a:srgbClr val="27D5FF"/>
                </a:solidFill>
              </a:defRPr>
            </a:pPr>
            <a:r>
              <a:t>Risk Plan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Entry, target, stop, RR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9756648" y="2606040"/>
            <a:ext cx="411480" cy="502920"/>
          </a:xfrm>
          <a:prstGeom prst="rightArrow">
            <a:avLst/>
          </a:prstGeom>
          <a:solidFill>
            <a:srgbClr val="A4B2CD"/>
          </a:solidFill>
          <a:ln>
            <a:solidFill>
              <a:srgbClr val="A4B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0104120" y="1920240"/>
            <a:ext cx="1600200" cy="2057400"/>
          </a:xfrm>
          <a:prstGeom prst="roundRect">
            <a:avLst/>
          </a:prstGeom>
          <a:solidFill>
            <a:srgbClr val="0D2044"/>
          </a:solidFill>
          <a:ln w="15240">
            <a:solidFill>
              <a:srgbClr val="3AD6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tIns="73152"/>
          <a:lstStyle/>
          <a:p>
            <a:pPr algn="ctr">
              <a:defRPr b="1" sz="1500">
                <a:solidFill>
                  <a:srgbClr val="3AD692"/>
                </a:solidFill>
              </a:defRPr>
            </a:pPr>
            <a:r>
              <a:t>Output Cache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Web chỉ đọc JSON output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4800600"/>
            <a:ext cx="10607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5F8FF"/>
                </a:solidFill>
              </a:defRPr>
            </a:pPr>
            <a:r>
              <a:t>• Nguyên tắc vận hành: mô hình và scan chạy local, xuất output JSON; web/Firebase/Render chỉ hiển thị cache, không tính toán nặng realtime.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" y="6510528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A4B2CD"/>
                </a:solidFill>
              </a:defRPr>
            </a:pPr>
            <a:r>
              <a:t>LH INVESTMENT  |  Strategy &amp; R/S Quant Framework  |  Slide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22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12779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25559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438339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51118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063898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876678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689457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02237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15017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127796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940576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753356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566135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378915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191695" y="0"/>
            <a:ext cx="0" cy="685800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85725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71450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257175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342900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428625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14350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600075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6858000"/>
            <a:ext cx="12191695" cy="0"/>
          </a:xfrm>
          <a:prstGeom prst="line">
            <a:avLst/>
          </a:prstGeom>
          <a:ln w="6350">
            <a:solidFill>
              <a:srgbClr val="152B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65750" y="4800630"/>
            <a:ext cx="1036294" cy="199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402044" y="4800829"/>
            <a:ext cx="1036295" cy="39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438339" y="4800418"/>
            <a:ext cx="1036294" cy="450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474633" y="4800208"/>
            <a:ext cx="1036294" cy="210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510927" y="4800208"/>
            <a:ext cx="1036294" cy="65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47221" y="4800273"/>
            <a:ext cx="1036294" cy="314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583515" y="4800587"/>
            <a:ext cx="1036294" cy="214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619809" y="4800638"/>
            <a:ext cx="1036294" cy="163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656103" y="4800181"/>
            <a:ext cx="1036294" cy="457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9692397" y="4800040"/>
            <a:ext cx="1036294" cy="141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728691" y="4800040"/>
            <a:ext cx="1036294" cy="100"/>
          </a:xfrm>
          <a:prstGeom prst="line">
            <a:avLst/>
          </a:prstGeom>
          <a:ln w="25400">
            <a:solidFill>
              <a:srgbClr val="1C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1148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5F8FF"/>
                </a:solidFill>
              </a:defRPr>
            </a:pPr>
            <a:r>
              <a:t>Kết luận &amp; cách sử dụng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4B2CD"/>
                </a:solidFill>
              </a:defRPr>
            </a:pPr>
            <a:r>
              <a:t>Chiến lược ưu tiên kỷ luật điểm mua, không mua đuổi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1143000"/>
            <a:ext cx="3383280" cy="4297680"/>
          </a:xfrm>
          <a:prstGeom prst="roundRect">
            <a:avLst/>
          </a:prstGeom>
          <a:solidFill>
            <a:srgbClr val="0D2044"/>
          </a:solidFill>
          <a:ln w="15240">
            <a:solidFill>
              <a:srgbClr val="3AD6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tIns="73152"/>
          <a:lstStyle/>
          <a:p>
            <a:pPr algn="ctr">
              <a:defRPr b="1" sz="1500">
                <a:solidFill>
                  <a:srgbClr val="3AD692"/>
                </a:solidFill>
              </a:defRPr>
            </a:pPr>
            <a:r>
              <a:t>Ưu tiên BUY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Chỉ mua khi đạt đủ bộ điều kiện: vùng giá hợp lý + động lượng xác nhận + rủi ro chấp nhận được.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34840" y="1143000"/>
            <a:ext cx="3383280" cy="4297680"/>
          </a:xfrm>
          <a:prstGeom prst="roundRect">
            <a:avLst/>
          </a:prstGeom>
          <a:solidFill>
            <a:srgbClr val="0D2044"/>
          </a:solidFill>
          <a:ln w="15240">
            <a:solidFill>
              <a:srgbClr val="FFC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tIns="73152"/>
          <a:lstStyle/>
          <a:p>
            <a:pPr algn="ctr">
              <a:defRPr b="1" sz="1500">
                <a:solidFill>
                  <a:srgbClr val="FFC457"/>
                </a:solidFill>
              </a:defRPr>
            </a:pPr>
            <a:r>
              <a:t>WATCH là danh sách canh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WATCH không phải lệnh mua. Dùng để theo dõi khi còn thiếu 1–2 điều kiện.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38160" y="1143000"/>
            <a:ext cx="3383280" cy="4297680"/>
          </a:xfrm>
          <a:prstGeom prst="roundRect">
            <a:avLst/>
          </a:prstGeom>
          <a:solidFill>
            <a:srgbClr val="0D2044"/>
          </a:solidFill>
          <a:ln w="15240">
            <a:solidFill>
              <a:srgbClr val="27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tIns="73152"/>
          <a:lstStyle/>
          <a:p>
            <a:pPr algn="ctr">
              <a:defRPr b="1" sz="1500">
                <a:solidFill>
                  <a:srgbClr val="27D5FF"/>
                </a:solidFill>
              </a:defRPr>
            </a:pPr>
            <a:r>
              <a:t>R/S là khung giá</a:t>
            </a:r>
          </a:p>
          <a:p>
            <a:pPr>
              <a:defRPr sz="1050">
                <a:solidFill>
                  <a:srgbClr val="F5F8FF"/>
                </a:solidFill>
              </a:defRPr>
            </a:pPr>
            <a:r>
              <a:t>R/S giúp xác định entry, target, stop. Quyết định cuối cùng vẫn cần action model xác nhận.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6510528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A4B2CD"/>
                </a:solidFill>
              </a:defRPr>
            </a:pPr>
            <a:r>
              <a:t>LH INVESTMENT  |  Strategy &amp; R/S Quant Framework  |  Slide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